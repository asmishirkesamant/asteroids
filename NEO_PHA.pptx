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B1D3A"/>
                </a:solidFill>
                <a:uFillTx/>
                <a:latin typeface="Calibri"/>
              </a:rPr>
              <a:t>Share flagged hazardous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Flagged PHA (%)</c:v>
                </c:pt>
              </c:strCache>
            </c:strRef>
          </c:tx>
          <c:spPr>
            <a:solidFill>
              <a:srgbClr val="D9622B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H ≤ 22 (4,368)</c:v>
                </c:pt>
                <c:pt idx="1">
                  <c:v>H &gt; 22 (10,405)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21.3</c:v>
                </c:pt>
                <c:pt idx="1">
                  <c:v>0.1</c:v>
                </c:pt>
              </c:numCache>
            </c:numRef>
          </c:val>
        </c:ser>
        <c:gapWidth val="150"/>
        <c:overlap val="0"/>
        <c:axId val="51731433"/>
        <c:axId val="15318144"/>
      </c:barChart>
      <c:catAx>
        <c:axId val="5173143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B2A41"/>
                </a:solidFill>
                <a:uFillTx/>
                <a:latin typeface="Calibri"/>
              </a:defRPr>
            </a:pPr>
          </a:p>
        </c:txPr>
        <c:crossAx val="15318144"/>
        <c:crosses val="autoZero"/>
        <c:auto val="1"/>
        <c:lblAlgn val="ctr"/>
        <c:lblOffset val="100"/>
        <c:noMultiLvlLbl val="0"/>
      </c:catAx>
      <c:valAx>
        <c:axId val="15318144"/>
        <c:scaling>
          <c:orientation val="minMax"/>
          <c:max val="26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173143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B1D3A"/>
                </a:solidFill>
                <a:uFillTx/>
                <a:latin typeface="Calibri"/>
              </a:rPr>
              <a:t>Test-set PR-AUC (prevalence 6.4%)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5B7C99"/>
            </a:solidFill>
            <a:ln w="0">
              <a:noFill/>
            </a:ln>
          </c:spPr>
          <c:invertIfNegative val="0"/>
          <c:dLbls>
            <c:numFmt formatCode="0.00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Dummy</c:v>
                </c:pt>
                <c:pt idx="1">
                  <c:v>C Velocity + Sentry</c:v>
                </c:pt>
                <c:pt idx="2">
                  <c:v>B Kinematic</c:v>
                </c:pt>
                <c:pt idx="3">
                  <c:v>A Benchmark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0.063</c:v>
                </c:pt>
                <c:pt idx="1">
                  <c:v>0.191</c:v>
                </c:pt>
                <c:pt idx="2">
                  <c:v>0.231</c:v>
                </c:pt>
                <c:pt idx="3">
                  <c:v>0.643</c:v>
                </c:pt>
              </c:numCache>
            </c:numRef>
          </c:val>
        </c:ser>
        <c:gapWidth val="150"/>
        <c:overlap val="0"/>
        <c:axId val="55073321"/>
        <c:axId val="61303978"/>
      </c:barChart>
      <c:catAx>
        <c:axId val="5507332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B2A41"/>
                </a:solidFill>
                <a:uFillTx/>
                <a:latin typeface="Calibri"/>
              </a:defRPr>
            </a:pPr>
          </a:p>
        </c:txPr>
        <c:crossAx val="61303978"/>
        <c:crosses val="autoZero"/>
        <c:auto val="1"/>
        <c:lblAlgn val="ctr"/>
        <c:lblOffset val="100"/>
        <c:noMultiLvlLbl val="0"/>
      </c:catAx>
      <c:valAx>
        <c:axId val="61303978"/>
        <c:scaling>
          <c:orientation val="minMax"/>
          <c:max val="0.8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5073321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DB4636-6526-4A31-A324-C9E3DF5383A3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group and the one-line question. The label is a definition; the interesting part is what is left when you remove the defining variables.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89CE71-A6F5-44D0-AA5B-FAB32DEEA2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006E0-D2BB-4C25-88A1-3C95B62D03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C92B10-5981-4913-9D0F-43F45E58EE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4994B-2BD0-43AD-BB9D-B81AB5D31F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53D2D-C27A-4878-A3C5-9F4EF8D51B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EE5798-63C5-4EEB-9C61-43D2805B02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16D9D8-D062-42E5-ACE8-3FE1290AEE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D01DDC-C198-448B-8A6B-4643512407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7B829-FE2F-4CA2-9139-FF1C01D972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6400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D9622B"/>
                </a:solidFill>
                <a:effectLst/>
                <a:uFillTx/>
                <a:latin typeface="Calibri"/>
                <a:ea typeface="Calibri"/>
              </a:rPr>
              <a:t>DATA WRANGLING PROJECT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1188720"/>
            <a:ext cx="7680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Which asteroids are "hazardous", and can we predict it without the rule?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31089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Near-Earth asteroid characterization and PHA classification from NASA CAD, Sentry and NeoWs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45000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Simran Ramchandani (L046), </a:t>
            </a: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Mannan Rana (L047), Asmi Shirke Samant (L061)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How much of "hazardous" is just size?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457200" y="1188720"/>
            <a:ext cx="4023000" cy="3200040"/>
          </a:xfrm>
          <a:prstGeom prst="roundRect">
            <a:avLst>
              <a:gd name="adj" fmla="val 228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85800" y="13716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NASA defines a PHA as an asteroid with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85800" y="1783080"/>
            <a:ext cx="3565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30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H ≤ 22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about 140 m or larger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30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MOID ≤ 0.05 au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orbit passes close to Earth's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85800" y="379476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7C99"/>
                </a:solidFill>
                <a:effectLst/>
                <a:uFillTx/>
                <a:latin typeface="Calibri"/>
                <a:ea typeface="Calibri"/>
              </a:rPr>
              <a:t>So the flag is a definition, not a measurement of danger.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4754880" y="1188720"/>
            <a:ext cx="201132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4892040" y="132588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14,776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892040" y="19659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asteroids after cleaning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6858000" y="1188720"/>
            <a:ext cx="182844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995160" y="132588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6.4%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6995160" y="196596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943 flagged PHA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4754880" y="2606040"/>
            <a:ext cx="3931560" cy="1782720"/>
          </a:xfrm>
          <a:prstGeom prst="roundRect">
            <a:avLst>
              <a:gd name="adj" fmla="val 4103"/>
            </a:avLst>
          </a:prstGeom>
          <a:solidFill>
            <a:srgbClr val="0B1D3A"/>
          </a:solidFill>
          <a:ln w="12700">
            <a:solidFill>
              <a:srgbClr val="0B1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4983480" y="27432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622B"/>
                </a:solidFill>
                <a:effectLst/>
                <a:uFillTx/>
                <a:latin typeface="Calibri"/>
                <a:ea typeface="Calibri"/>
              </a:rPr>
              <a:t>Research question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4983480" y="3063240"/>
            <a:ext cx="34743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Can hazard status be predicted from close-approach behaviour and physical properties, and what is the trade-off when H and MOID are left out?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Three NASA sources, one canonical join key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457200" y="1188720"/>
            <a:ext cx="2605680" cy="2011320"/>
          </a:xfrm>
          <a:prstGeom prst="roundRect">
            <a:avLst>
              <a:gd name="adj" fmla="val 363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640080" y="13258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CAD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640080" y="17373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43,614 rows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640080" y="2103120"/>
            <a:ext cx="2239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Close approaches within 0.05 au, 1900-2100. 20 decade-sized requests.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3246120" y="1188720"/>
            <a:ext cx="2605680" cy="2011320"/>
          </a:xfrm>
          <a:prstGeom prst="roundRect">
            <a:avLst>
              <a:gd name="adj" fmla="val 363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3429000" y="13258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Sentry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3429000" y="17373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2,222 rows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3429000" y="2103120"/>
            <a:ext cx="2239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Impact-risk monitoring list. One request.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6035040" y="1188720"/>
            <a:ext cx="2605680" cy="2011320"/>
          </a:xfrm>
          <a:prstGeom prst="roundRect">
            <a:avLst>
              <a:gd name="adj" fmla="val 363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6217920" y="13258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NeoWs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6217920" y="1737360"/>
            <a:ext cx="2239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16,000 rows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6217920" y="2103120"/>
            <a:ext cx="2239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Catalogue and PHA label. 800 seeded random pages of 62,746 objects.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457200" y="34290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Access constraints handled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457200" y="37490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Registered NASA API key; DEMO_KEY is too limited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Retry with back-off, 0.4 s pause, gzip cache so re-runs resume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Public NASA/JPL data; manifest records every pull (690 calls)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Cleaning: drop little, flag a lot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457200" y="1188720"/>
            <a:ext cx="265140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94360" y="13258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37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594360" y="19659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logged cleaning and transformation steps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3246120" y="1188720"/>
            <a:ext cx="265140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3383280" y="13258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14,776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3383280" y="19659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NeoWs rows kept after de-duplicating 16,000 on the join key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6035040" y="1188720"/>
            <a:ext cx="265140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6172200" y="1325880"/>
            <a:ext cx="2377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99.84%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6172200" y="19659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PHA label agrees with the H and MOID rule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457200" y="2697480"/>
            <a:ext cx="8229240" cy="56664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640080" y="2697480"/>
            <a:ext cx="1096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Drop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1737360" y="2697480"/>
            <a:ext cx="6766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only unusable rows or exact duplicates (1,223 repeated keys)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457200" y="3355920"/>
            <a:ext cx="8229240" cy="56664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640080" y="3355920"/>
            <a:ext cx="1096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Flag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1737360" y="3355920"/>
            <a:ext cx="6766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suspicious but possibly real values: 23 label mismatches, 56 odd H, 519 Sentry disagreements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457200" y="4014360"/>
            <a:ext cx="8229240" cy="566640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640080" y="4014360"/>
            <a:ext cx="1096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Impute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1737360" y="4014360"/>
            <a:ext cx="6766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only inside the ML pipeline, fitted on training data, so stored data keeps honest gaps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From events to asteroids to a star schema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457200" y="1188720"/>
            <a:ext cx="1828440" cy="1371240"/>
          </a:xfrm>
          <a:prstGeom prst="roundRect">
            <a:avLst>
              <a:gd name="adj" fmla="val 533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548640" y="128016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43,614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48640" y="1920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CAD events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2286000" y="1417320"/>
            <a:ext cx="27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7C99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2560320" y="1188720"/>
            <a:ext cx="1828440" cy="1371240"/>
          </a:xfrm>
          <a:prstGeom prst="roundRect">
            <a:avLst>
              <a:gd name="adj" fmla="val 533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2651760" y="128016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19,846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2651760" y="1920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asteroids after group-by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4389120" y="1417320"/>
            <a:ext cx="27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7C99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4663440" y="1188720"/>
            <a:ext cx="1828440" cy="1371240"/>
          </a:xfrm>
          <a:prstGeom prst="roundRect">
            <a:avLst>
              <a:gd name="adj" fmla="val 533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4754880" y="128016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14,776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4754880" y="1920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merged with NeoWs label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6492240" y="1417320"/>
            <a:ext cx="273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5B7C99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6766560" y="1188720"/>
            <a:ext cx="1828440" cy="1371240"/>
          </a:xfrm>
          <a:prstGeom prst="roundRect">
            <a:avLst>
              <a:gd name="adj" fmla="val 5333"/>
            </a:avLst>
          </a:prstGeom>
          <a:solidFill>
            <a:srgbClr val="0B1D3A"/>
          </a:solidFill>
          <a:ln w="12700">
            <a:solidFill>
              <a:srgbClr val="0B1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6858000" y="128016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SQLite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6858000" y="19202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star schema + 20 decade partitions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457200" y="28346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Engineered features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457200" y="3154680"/>
            <a:ext cx="4023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approaches_per_decade (own span, not fixed 200 years)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size_class, speed_class, diameter_mean_km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is_sentry_monitored, distance in lunar units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4754880" y="283464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Validated with SQL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4754880" y="3154680"/>
            <a:ext cx="3931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D9622B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D9622B"/>
                </a:solidFill>
                <a:effectLst/>
                <a:uFillTx/>
                <a:latin typeface="Calibri"/>
                <a:ea typeface="Calibri"/>
              </a:rPr>
              <a:t>11 of 11 checks pass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No orphan keys, unique IDs, no non-positive values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Pivot: 20 decades × 4 orbit classes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Insights: size is necessary, not sufficient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Chart 0"/>
          <p:cNvGraphicFramePr/>
          <p:nvPr/>
        </p:nvGraphicFramePr>
        <p:xfrm>
          <a:off x="457200" y="1143000"/>
          <a:ext cx="384012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4" name="Shape 1"/>
          <p:cNvSpPr/>
          <p:nvPr/>
        </p:nvSpPr>
        <p:spPr>
          <a:xfrm>
            <a:off x="4572000" y="1188720"/>
            <a:ext cx="4114440" cy="1005480"/>
          </a:xfrm>
          <a:prstGeom prst="roundRect">
            <a:avLst>
              <a:gd name="adj" fmla="val 727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4709160" y="118872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5.3×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5943600" y="118872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more listed approaches in 2000-2019 than before 1960: a discovery effect, not real traffic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4572000" y="2331720"/>
            <a:ext cx="4114440" cy="1005480"/>
          </a:xfrm>
          <a:prstGeom prst="roundRect">
            <a:avLst>
              <a:gd name="adj" fmla="val 727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4709160" y="233172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8.1%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5943600" y="233172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of objects pass closer than their MOID, so miss distance acts as a MOID proxy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4572000" y="3474720"/>
            <a:ext cx="4114440" cy="1005480"/>
          </a:xfrm>
          <a:prstGeom prst="roundRect">
            <a:avLst>
              <a:gd name="adj" fmla="val 7273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4709160" y="3474720"/>
            <a:ext cx="1188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0.3%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943600" y="347472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of PHAs are on the Sentry list: PHA and Sentry answer different questions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ML design: three feature sets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457200" y="1188720"/>
            <a:ext cx="2605680" cy="2148480"/>
          </a:xfrm>
          <a:prstGeom prst="roundRect">
            <a:avLst>
              <a:gd name="adj" fmla="val 3404"/>
            </a:avLst>
          </a:prstGeom>
          <a:solidFill>
            <a:srgbClr val="0B1D3A"/>
          </a:solidFill>
          <a:ln w="12700">
            <a:solidFill>
              <a:srgbClr val="0B1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640080" y="13258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A57F"/>
                </a:solidFill>
                <a:effectLst/>
                <a:uFillTx/>
                <a:latin typeface="Cambria"/>
                <a:ea typeface="Cambria"/>
              </a:rPr>
              <a:t>A  Benchmark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640080" y="178308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H, diameter, min miss distance, mean speed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640080" y="269748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Contains the rule itself: a ceiling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3246120" y="1188720"/>
            <a:ext cx="2605680" cy="2148480"/>
          </a:xfrm>
          <a:prstGeom prst="roundRect">
            <a:avLst>
              <a:gd name="adj" fmla="val 3404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3429000" y="13258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B  Kinematic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3429000" y="178308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Approach count and rate, speed stats, miss distances, Sentry flag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3429000" y="269748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No H, no diameter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6035040" y="1188720"/>
            <a:ext cx="2605680" cy="2148480"/>
          </a:xfrm>
          <a:prstGeom prst="roundRect">
            <a:avLst>
              <a:gd name="adj" fmla="val 3404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6217920" y="13258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C  Velocity + Sentry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6217920" y="1783080"/>
            <a:ext cx="2239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Speed stats and Sentry flag only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6217920" y="269748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No distance features: cleanest ablation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457200" y="3566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D3A"/>
                </a:solidFill>
                <a:effectLst/>
                <a:uFillTx/>
                <a:latin typeface="Calibri"/>
                <a:ea typeface="Calibri"/>
              </a:rPr>
              <a:t>Protocol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457200" y="385884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Stratified 80/20 split, one row per asteroid; 189 test positives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Impute, log1p, scale inside a Pipeline; 5-fold CV; model chosen by CV F1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B2A41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Dummy, Logistic Regression, Random Forest and the H ≤ 22 rule; recall is the headline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D3A"/>
                </a:solidFill>
                <a:effectLst/>
                <a:uFillTx/>
                <a:latin typeface="Cambria"/>
                <a:ea typeface="Cambria"/>
              </a:rPr>
              <a:t>Results: size carries the signal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9" name="Chart 0"/>
          <p:cNvGraphicFramePr/>
          <p:nvPr/>
        </p:nvGraphicFramePr>
        <p:xfrm>
          <a:off x="457200" y="1143000"/>
          <a:ext cx="457164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0" name="Shape 1"/>
          <p:cNvSpPr/>
          <p:nvPr/>
        </p:nvSpPr>
        <p:spPr>
          <a:xfrm>
            <a:off x="5303520" y="1188720"/>
            <a:ext cx="164556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5440680" y="132588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0.94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5440680" y="196596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recall, B tuned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7040880" y="1188720"/>
            <a:ext cx="1645560" cy="123408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 w="12700">
            <a:solidFill>
              <a:srgbClr val="EAF0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7178040" y="1325880"/>
            <a:ext cx="1371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9622B"/>
                </a:solidFill>
                <a:effectLst/>
                <a:uFillTx/>
                <a:latin typeface="Cambria"/>
                <a:ea typeface="Cambria"/>
              </a:rPr>
              <a:t>0.08</a:t>
            </a:r>
            <a:endParaRPr lang="en-IN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7178040" y="196596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A41"/>
                </a:solidFill>
                <a:effectLst/>
                <a:uFillTx/>
                <a:latin typeface="Calibri"/>
                <a:ea typeface="Calibri"/>
              </a:rPr>
              <a:t>precision, B tuned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5303520" y="2560320"/>
            <a:ext cx="3382920" cy="1965600"/>
          </a:xfrm>
          <a:prstGeom prst="roundRect">
            <a:avLst>
              <a:gd name="adj" fmla="val 3721"/>
            </a:avLst>
          </a:prstGeom>
          <a:solidFill>
            <a:srgbClr val="0B1D3A"/>
          </a:solidFill>
          <a:ln w="12700">
            <a:solidFill>
              <a:srgbClr val="0B1D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486400" y="2697480"/>
            <a:ext cx="30171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About 11 false alarms per hit at 94% recall.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The rule H ≤ 22 alone gets recall 1.00 at precision 0.22, so the benchmark is a ceiling, not a finding.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457200" y="3200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Limits and takeaway</a:t>
            </a:r>
            <a:endParaRPr lang="en-IN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457200" y="1188720"/>
            <a:ext cx="4023000" cy="3291480"/>
          </a:xfrm>
          <a:prstGeom prst="roundRect">
            <a:avLst>
              <a:gd name="adj" fmla="val 2222"/>
            </a:avLst>
          </a:prstGeom>
          <a:solidFill>
            <a:srgbClr val="14305C"/>
          </a:solidFill>
          <a:ln w="12700">
            <a:solidFill>
              <a:srgbClr val="1430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685800" y="13258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622B"/>
                </a:solidFill>
                <a:effectLst/>
                <a:uFillTx/>
                <a:latin typeface="Calibri"/>
                <a:ea typeface="Calibri"/>
              </a:rPr>
              <a:t>What could mislead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685800" y="1691640"/>
            <a:ext cx="356580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 label is a definition, not ground truth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Diameter is derived from H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Miss distance is bounded by MOID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Discovery bias in counts; 23.5% catalogue sample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Only 189 positives in the test set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4846320" y="13258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622B"/>
                </a:solidFill>
                <a:effectLst/>
                <a:uFillTx/>
                <a:latin typeface="Calibri"/>
                <a:ea typeface="Calibri"/>
              </a:rPr>
              <a:t>Takeaway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4846320" y="1691640"/>
            <a:ext cx="38401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Without H and diameter, encounter data lifts PR-AUC about 3.6× above chance, but mostly through miss distance standing in for MOID. Speed alone is weak. Recall of 90%+ costs roughly eleven false alarms per true hazard.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LibreOffice/26.8.1.1$MacOSX_AARCH64 LibreOffice_project/bf6ef2662401c7d6dce671ab4deb26ee0af3a7c1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2026-10-18T12:29:33Z</dcterms:created>
  <dc:creator>PptxGenJS</dc:creator>
  <dc:description/>
  <dc:language>en-IN</dc:language>
  <cp:lastModifiedBy/>
  <dcterms:modified xsi:type="dcterms:W3CDTF">2026-10-19T11:13:45Z</dcterms:modified>
  <cp:revision>2</cp:revision>
  <dc:subject>PptxGenJS Presentation</dc:subject>
  <dc:title>NEO PHA Classification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